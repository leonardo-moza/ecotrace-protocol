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1188720" cy="548640"/>
          </a:xfrm>
          <a:prstGeom prst="line">
            <a:avLst/>
          </a:prstGeom>
          <a:noFill/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9326880" y="914400"/>
            <a:ext cx="365760" cy="1280160"/>
          </a:xfrm>
          <a:prstGeom prst="line">
            <a:avLst/>
          </a:prstGeom>
          <a:noFill/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463040"/>
            <a:ext cx="365760" cy="1188720"/>
          </a:xfrm>
          <a:prstGeom prst="line">
            <a:avLst/>
          </a:prstGeom>
          <a:noFill/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2194560"/>
            <a:ext cx="731520" cy="1097280"/>
          </a:xfrm>
          <a:prstGeom prst="line">
            <a:avLst/>
          </a:prstGeom>
          <a:noFill/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10058400" y="2651760"/>
            <a:ext cx="1188720" cy="640080"/>
          </a:xfrm>
          <a:prstGeom prst="line">
            <a:avLst/>
          </a:prstGeom>
          <a:noFill/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8869680" y="2194560"/>
            <a:ext cx="457200" cy="914400"/>
          </a:xfrm>
          <a:prstGeom prst="line">
            <a:avLst/>
          </a:prstGeom>
          <a:noFill/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0" y="2651760"/>
            <a:ext cx="274320" cy="1371600"/>
          </a:xfrm>
          <a:prstGeom prst="line">
            <a:avLst/>
          </a:prstGeom>
          <a:noFill/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9875520" y="3291840"/>
            <a:ext cx="182880" cy="1188720"/>
          </a:xfrm>
          <a:prstGeom prst="line">
            <a:avLst/>
          </a:prstGeom>
          <a:noFill/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8595360" y="3108960"/>
            <a:ext cx="274320" cy="1097280"/>
          </a:xfrm>
          <a:prstGeom prst="line">
            <a:avLst/>
          </a:prstGeom>
          <a:noFill/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8595360" y="3291840"/>
            <a:ext cx="1463040" cy="914400"/>
          </a:xfrm>
          <a:prstGeom prst="line">
            <a:avLst/>
          </a:prstGeom>
          <a:noFill/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0789920" y="4023360"/>
            <a:ext cx="731520" cy="1097280"/>
          </a:xfrm>
          <a:prstGeom prst="line">
            <a:avLst/>
          </a:prstGeom>
          <a:noFill/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0" y="4480560"/>
            <a:ext cx="914400" cy="640080"/>
          </a:xfrm>
          <a:prstGeom prst="line">
            <a:avLst/>
          </a:prstGeom>
          <a:noFill/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 flipV="1">
            <a:off x="8595360" y="4206240"/>
            <a:ext cx="1280160" cy="274320"/>
          </a:xfrm>
          <a:prstGeom prst="line">
            <a:avLst/>
          </a:prstGeom>
          <a:noFill/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10344" y="83210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26496" y="1408176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Shape 15"/>
          <p:cNvSpPr/>
          <p:nvPr/>
        </p:nvSpPr>
        <p:spPr>
          <a:xfrm>
            <a:off x="9272016" y="213969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11164824" y="2569464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03536" y="323697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8814816" y="3054096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9144" y="394106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9820656" y="4425696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3" name="Shape 21"/>
          <p:cNvSpPr/>
          <p:nvPr/>
        </p:nvSpPr>
        <p:spPr>
          <a:xfrm>
            <a:off x="8540496" y="415137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10707624" y="5038344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5" name="Image 0" descr="/home/claude/ecotrace/icons/recycle_14b8a6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9966960" y="2743200"/>
            <a:ext cx="1005840" cy="100584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40080" y="640080"/>
            <a:ext cx="2331720" cy="292608"/>
          </a:xfrm>
          <a:prstGeom prst="roundRect">
            <a:avLst>
              <a:gd name="adj" fmla="val 50000"/>
            </a:avLst>
          </a:prstGeom>
          <a:solidFill>
            <a:srgbClr val="161F3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6400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LACNET OPEN PRO-TESTNET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063240" y="6400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61F3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063240" y="640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READY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92040" y="6400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61F3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92040" y="6400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DAPP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40080" y="22860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EcoTrace Protocol</a:t>
            </a:r>
            <a:endParaRPr lang="en-US" sz="5400" dirty="0"/>
          </a:p>
        </p:txBody>
      </p:sp>
      <p:sp>
        <p:nvSpPr>
          <p:cNvPr id="33" name="Text 30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Traceability for the </a:t>
            </a:r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Economy</a:t>
            </a:r>
            <a:pPr indent="0" marL="0">
              <a:buNone/>
            </a:pPr>
            <a:r>
              <a:rPr lang="en-US" sz="2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Powered by Blockchain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19050">
            <a:solidFill>
              <a:srgbClr val="161F3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" y="6126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 ·  EcoIncentives Report Capstone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0607040" y="6126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Crisis in the Recycling Chain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37560" cy="2880360"/>
          </a:xfrm>
          <a:prstGeom prst="roundRect">
            <a:avLst>
              <a:gd name="adj" fmla="val 3810"/>
            </a:avLst>
          </a:prstGeom>
          <a:solidFill>
            <a:srgbClr val="121826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9456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6" name="Image 0" descr="/home/claude/ecotrace/icons/leaf_0b0f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3728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63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Greenwashing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7033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claim to use recycled inputs without auditable proof or tamper-proof records.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874520"/>
            <a:ext cx="3337560" cy="2880360"/>
          </a:xfrm>
          <a:prstGeom prst="roundRect">
            <a:avLst>
              <a:gd name="adj" fmla="val 3810"/>
            </a:avLst>
          </a:prstGeom>
          <a:solidFill>
            <a:srgbClr val="121826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19456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1" name="Image 1" descr="/home/claude/ecotrace/icons/warning_0b0f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28" y="23728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063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at the Source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72000" y="37033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sheets and polymer types are manually altered at traditional collection centers.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1874520"/>
            <a:ext cx="3337560" cy="2880360"/>
          </a:xfrm>
          <a:prstGeom prst="roundRect">
            <a:avLst>
              <a:gd name="adj" fmla="val 3810"/>
            </a:avLst>
          </a:prstGeom>
          <a:solidFill>
            <a:srgbClr val="121826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219456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6" name="Image 2" descr="/home/claude/ecotrace/icons/invoice_0b0f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3728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3063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Audit Costs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29600" y="37033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 and spreadsheet-based processes take weeks for environmental authorities to verify.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161F3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05840" y="5074920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sustainability claims in the industry lack end-to-end traceability.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EcoTrace Protocol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12182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 every kilogram of recycled waste into an immutable, tamper-proof record on the LACNet blockchain.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3337560" cy="3154680"/>
          </a:xfrm>
          <a:prstGeom prst="roundRect">
            <a:avLst>
              <a:gd name="adj" fmla="val 3478"/>
            </a:avLst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3291840"/>
            <a:ext cx="685800" cy="6858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8" name="Image 0" descr="/home/claude/ecotrace/icons/network_0b0f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347014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1605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On-Chain Registration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9377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mapping of material type, weight (kg), and geographic location for every batch.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2971800"/>
            <a:ext cx="3337560" cy="3154680"/>
          </a:xfrm>
          <a:prstGeom prst="roundRect">
            <a:avLst>
              <a:gd name="adj" fmla="val 3478"/>
            </a:avLst>
          </a:prstGeom>
          <a:solidFill>
            <a:srgbClr val="12182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3291840"/>
            <a:ext cx="685800" cy="6858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1" descr="/home/claude/ecotrace/icons/search_0b0f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28" y="347014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41605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Verifiability (Zero-Trust)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72000" y="49377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company or auditor can verify a batch's authenticity without intermediaries.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55280" y="2971800"/>
            <a:ext cx="3337560" cy="3154680"/>
          </a:xfrm>
          <a:prstGeom prst="roundRect">
            <a:avLst>
              <a:gd name="adj" fmla="val 3478"/>
            </a:avLst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75320" y="3291840"/>
            <a:ext cx="685800" cy="6858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8" name="Image 2" descr="/home/claude/ecotrace/icons/certificate_0b0f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34701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0" y="41605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229600" y="49377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cryptographic identity is generated for each recycled batch.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Core: Smart Contracts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943600" cy="4526280"/>
          </a:xfrm>
          <a:prstGeom prst="roundRect">
            <a:avLst>
              <a:gd name="adj" fmla="val 2020"/>
            </a:avLst>
          </a:prstGeom>
          <a:solidFill>
            <a:srgbClr val="0E1420"/>
          </a:solidFill>
          <a:ln w="12700">
            <a:solidFill>
              <a:srgbClr val="161F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9280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89280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1892808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8013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EcoTraceRegistry.sol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53949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LACNet Open Pro-Testnet
</a:t>
            </a:r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F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Regional governance · low fees · carbon-neutral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registerBatch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 material, uint256 weight, string location)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assigns immutable sequential ID
  → emits on-chain event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getBatch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(uint256 batchId)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view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returns owner, material, weight, location, timestamp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uint256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totalBatches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global traced volume counter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903720" y="1691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Flow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03720" y="2240280"/>
            <a:ext cx="4617720" cy="868680"/>
          </a:xfrm>
          <a:prstGeom prst="roundRect">
            <a:avLst>
              <a:gd name="adj" fmla="val 10526"/>
            </a:avLst>
          </a:prstGeom>
          <a:solidFill>
            <a:srgbClr val="121826"/>
          </a:solidFill>
          <a:ln/>
        </p:spPr>
      </p:sp>
      <p:sp>
        <p:nvSpPr>
          <p:cNvPr id="12" name="Shape 10"/>
          <p:cNvSpPr/>
          <p:nvPr/>
        </p:nvSpPr>
        <p:spPr>
          <a:xfrm>
            <a:off x="7086600" y="2404872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0" descr="/home/claude/ecotrace/icons/mobile_0b0f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9246" y="2547518"/>
            <a:ext cx="263347" cy="26334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818120" y="23500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/ DApp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818120" y="27157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data entry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60920" y="3108960"/>
            <a:ext cx="0" cy="18288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03720" y="3291840"/>
            <a:ext cx="4617720" cy="868680"/>
          </a:xfrm>
          <a:prstGeom prst="roundRect">
            <a:avLst>
              <a:gd name="adj" fmla="val 10526"/>
            </a:avLst>
          </a:prstGeom>
          <a:solidFill>
            <a:srgbClr val="121826"/>
          </a:solidFill>
          <a:ln/>
        </p:spPr>
      </p:sp>
      <p:sp>
        <p:nvSpPr>
          <p:cNvPr id="18" name="Shape 15"/>
          <p:cNvSpPr/>
          <p:nvPr/>
        </p:nvSpPr>
        <p:spPr>
          <a:xfrm>
            <a:off x="7086600" y="3456432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9" name="Image 1" descr="/home/claude/ecotrace/icons/shield_0b0f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246" y="3599078"/>
            <a:ext cx="263347" cy="26334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818120" y="34015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Transaction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818120" y="37673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signature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360920" y="4160520"/>
            <a:ext cx="0" cy="18288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903720" y="4343400"/>
            <a:ext cx="4617720" cy="868680"/>
          </a:xfrm>
          <a:prstGeom prst="roundRect">
            <a:avLst>
              <a:gd name="adj" fmla="val 10526"/>
            </a:avLst>
          </a:prstGeom>
          <a:solidFill>
            <a:srgbClr val="121826"/>
          </a:solidFill>
          <a:ln/>
        </p:spPr>
      </p:sp>
      <p:sp>
        <p:nvSpPr>
          <p:cNvPr id="24" name="Shape 20"/>
          <p:cNvSpPr/>
          <p:nvPr/>
        </p:nvSpPr>
        <p:spPr>
          <a:xfrm>
            <a:off x="7086600" y="4507992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5" name="Image 2" descr="/home/claude/ecotrace/icons/network_0b0f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246" y="4650638"/>
            <a:ext cx="263347" cy="263347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818120" y="44531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LACNet Node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7818120" y="48188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validation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7360920" y="5212080"/>
            <a:ext cx="0" cy="18288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903720" y="5394960"/>
            <a:ext cx="4617720" cy="868680"/>
          </a:xfrm>
          <a:prstGeom prst="roundRect">
            <a:avLst>
              <a:gd name="adj" fmla="val 10526"/>
            </a:avLst>
          </a:prstGeom>
          <a:solidFill>
            <a:srgbClr val="121826"/>
          </a:solidFill>
          <a:ln/>
        </p:spPr>
      </p:sp>
      <p:sp>
        <p:nvSpPr>
          <p:cNvPr id="30" name="Shape 25"/>
          <p:cNvSpPr/>
          <p:nvPr/>
        </p:nvSpPr>
        <p:spPr>
          <a:xfrm>
            <a:off x="7086600" y="5559552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1" name="Image 3" descr="/home/claude/ecotrace/icons/check_0b0f1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9246" y="5702198"/>
            <a:ext cx="263347" cy="263347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818120" y="55046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Block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818120" y="58704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Tx generated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Access for Field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Web3 experience for collection plants and recyclers.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2468880" cy="4572000"/>
          </a:xfrm>
          <a:prstGeom prst="roundRect">
            <a:avLst>
              <a:gd name="adj" fmla="val 8148"/>
            </a:avLst>
          </a:prstGeom>
          <a:solidFill>
            <a:srgbClr val="0E1420"/>
          </a:solidFill>
          <a:ln w="25400">
            <a:solidFill>
              <a:srgbClr val="161F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194560"/>
            <a:ext cx="2249424" cy="3931920"/>
          </a:xfrm>
          <a:prstGeom prst="roundRect">
            <a:avLst>
              <a:gd name="adj" fmla="val 4065"/>
            </a:avLst>
          </a:prstGeom>
          <a:solidFill>
            <a:srgbClr val="0B0F19"/>
          </a:solidFill>
          <a:ln/>
        </p:spPr>
      </p:sp>
      <p:sp>
        <p:nvSpPr>
          <p:cNvPr id="7" name="Shape 5"/>
          <p:cNvSpPr/>
          <p:nvPr/>
        </p:nvSpPr>
        <p:spPr>
          <a:xfrm>
            <a:off x="1737360" y="2002536"/>
            <a:ext cx="640080" cy="91440"/>
          </a:xfrm>
          <a:prstGeom prst="roundRect">
            <a:avLst>
              <a:gd name="adj" fmla="val 50000"/>
            </a:avLst>
          </a:prstGeom>
          <a:solidFill>
            <a:srgbClr val="161F31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7432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21826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mage 0" descr="/home/claude/ecotrace/icons/wallet_10b9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5292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2743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0x4A2...F19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097280" y="3383280"/>
            <a:ext cx="914400" cy="822960"/>
          </a:xfrm>
          <a:prstGeom prst="roundRect">
            <a:avLst>
              <a:gd name="adj" fmla="val 8889"/>
            </a:avLst>
          </a:prstGeom>
          <a:solidFill>
            <a:srgbClr val="121826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344728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1,248
</a:t>
            </a:r>
            <a:pPr indent="0" marL="0">
              <a:buNone/>
            </a:pPr>
            <a:r>
              <a:rPr lang="en-US" sz="8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Batches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2103120" y="3383280"/>
            <a:ext cx="914400" cy="822960"/>
          </a:xfrm>
          <a:prstGeom prst="roundRect">
            <a:avLst>
              <a:gd name="adj" fmla="val 8889"/>
            </a:avLst>
          </a:prstGeom>
          <a:solidFill>
            <a:srgbClr val="121826"/>
          </a:solidFill>
          <a:ln/>
        </p:spPr>
      </p:sp>
      <p:sp>
        <p:nvSpPr>
          <p:cNvPr id="15" name="Text 12"/>
          <p:cNvSpPr/>
          <p:nvPr/>
        </p:nvSpPr>
        <p:spPr>
          <a:xfrm>
            <a:off x="2194560" y="344728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38.2t
</a:t>
            </a:r>
            <a:pPr indent="0" marL="0">
              <a:buNone/>
            </a:pPr>
            <a:r>
              <a:rPr lang="en-US" sz="8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Traced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1097280" y="43891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4389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Register Batch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97280" y="498348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12182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9" name="Image 1" descr="/home/claude/ecotrace/icons/certificate_14b8a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512064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737360" y="5074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#0891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✓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1280160" y="5669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· 240kg · Lima, PE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794760" y="1874520"/>
            <a:ext cx="7498080" cy="1005840"/>
          </a:xfrm>
          <a:prstGeom prst="roundRect">
            <a:avLst>
              <a:gd name="adj" fmla="val 9091"/>
            </a:avLst>
          </a:prstGeom>
          <a:solidFill>
            <a:srgbClr val="121826"/>
          </a:solidFill>
          <a:ln/>
        </p:spPr>
      </p:sp>
      <p:sp>
        <p:nvSpPr>
          <p:cNvPr id="23" name="Shape 19"/>
          <p:cNvSpPr/>
          <p:nvPr/>
        </p:nvSpPr>
        <p:spPr>
          <a:xfrm>
            <a:off x="4023360" y="21031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4" name="Image 2" descr="/home/claude/ecotrace/icons/mobile_0b0f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006" y="2245766"/>
            <a:ext cx="263347" cy="26334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54880" y="20116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 Mockup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4754880" y="23774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Web3-style interface optimized for smartphones, built with Tailwind CSS.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3794760" y="3017520"/>
            <a:ext cx="7498080" cy="1005840"/>
          </a:xfrm>
          <a:prstGeom prst="roundRect">
            <a:avLst>
              <a:gd name="adj" fmla="val 9091"/>
            </a:avLst>
          </a:prstGeom>
          <a:solidFill>
            <a:srgbClr val="121826"/>
          </a:solidFill>
          <a:ln/>
        </p:spPr>
      </p:sp>
      <p:sp>
        <p:nvSpPr>
          <p:cNvPr id="28" name="Shape 23"/>
          <p:cNvSpPr/>
          <p:nvPr/>
        </p:nvSpPr>
        <p:spPr>
          <a:xfrm>
            <a:off x="4023360" y="32461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9" name="Image 3" descr="/home/claude/ecotrace/icons/wallet_0b0f1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006" y="3388766"/>
            <a:ext cx="263347" cy="26334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754880" y="31546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Connection Module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4754880" y="35204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authentication through cryptographic addresses (Web3 Provider).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3794760" y="4160520"/>
            <a:ext cx="7498080" cy="1005840"/>
          </a:xfrm>
          <a:prstGeom prst="roundRect">
            <a:avLst>
              <a:gd name="adj" fmla="val 9091"/>
            </a:avLst>
          </a:prstGeom>
          <a:solidFill>
            <a:srgbClr val="121826"/>
          </a:solidFill>
          <a:ln/>
        </p:spPr>
      </p:sp>
      <p:sp>
        <p:nvSpPr>
          <p:cNvPr id="33" name="Shape 27"/>
          <p:cNvSpPr/>
          <p:nvPr/>
        </p:nvSpPr>
        <p:spPr>
          <a:xfrm>
            <a:off x="4023360" y="43891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4" name="Image 4" descr="/home/claude/ecotrace/icons/chart_0b0f1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6006" y="4531766"/>
            <a:ext cx="263347" cy="263347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754880" y="42976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Dashboard</a:t>
            </a:r>
            <a:endParaRPr lang="en-US" sz="1450" dirty="0"/>
          </a:p>
        </p:txBody>
      </p:sp>
      <p:sp>
        <p:nvSpPr>
          <p:cNvPr id="36" name="Text 29"/>
          <p:cNvSpPr/>
          <p:nvPr/>
        </p:nvSpPr>
        <p:spPr>
          <a:xfrm>
            <a:off x="4754880" y="46634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indicators for "Total Batches" and "Kilograms Traced."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3794760" y="5303520"/>
            <a:ext cx="7498080" cy="1005840"/>
          </a:xfrm>
          <a:prstGeom prst="roundRect">
            <a:avLst>
              <a:gd name="adj" fmla="val 9091"/>
            </a:avLst>
          </a:prstGeom>
          <a:solidFill>
            <a:srgbClr val="121826"/>
          </a:solidFill>
          <a:ln/>
        </p:spPr>
      </p:sp>
      <p:sp>
        <p:nvSpPr>
          <p:cNvPr id="38" name="Shape 31"/>
          <p:cNvSpPr/>
          <p:nvPr/>
        </p:nvSpPr>
        <p:spPr>
          <a:xfrm>
            <a:off x="4023360" y="55321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9" name="Image 5" descr="/home/claude/ecotrace/icons/search_0b0f1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6006" y="5674766"/>
            <a:ext cx="263347" cy="263347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4754880" y="54406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Lookup Module</a:t>
            </a:r>
            <a:endParaRPr lang="en-US" sz="1450" dirty="0"/>
          </a:p>
        </p:txBody>
      </p:sp>
      <p:sp>
        <p:nvSpPr>
          <p:cNvPr id="41" name="Text 33"/>
          <p:cNvSpPr/>
          <p:nvPr/>
        </p:nvSpPr>
        <p:spPr>
          <a:xfrm>
            <a:off x="4754880" y="58064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Batch ID with an animated verification certificate.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Traceability vs. EcoTrace Protocol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743200" cy="658368"/>
          </a:xfrm>
          <a:prstGeom prst="rect">
            <a:avLst/>
          </a:prstGeom>
          <a:solidFill>
            <a:srgbClr val="0E1420"/>
          </a:solidFill>
          <a:ln w="12700">
            <a:solidFill>
              <a:srgbClr val="0B0F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383280" y="1783080"/>
            <a:ext cx="4069080" cy="658368"/>
          </a:xfrm>
          <a:prstGeom prst="rect">
            <a:avLst/>
          </a:prstGeom>
          <a:solidFill>
            <a:srgbClr val="0E1420"/>
          </a:solidFill>
          <a:ln w="12700">
            <a:solidFill>
              <a:srgbClr val="0B0F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78308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Model (Paper / Excel)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52360" y="1783080"/>
            <a:ext cx="4069080" cy="658368"/>
          </a:xfrm>
          <a:prstGeom prst="rect">
            <a:avLst/>
          </a:prstGeom>
          <a:solidFill>
            <a:srgbClr val="0E1420"/>
          </a:solidFill>
          <a:ln w="12700">
            <a:solidFill>
              <a:srgbClr val="0B0F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178308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EcoTrace Protocol (Blockchain)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441448"/>
            <a:ext cx="2743200" cy="658368"/>
          </a:xfrm>
          <a:prstGeom prst="rect">
            <a:avLst/>
          </a:prstGeom>
          <a:solidFill>
            <a:srgbClr val="161F31"/>
          </a:solidFill>
          <a:ln w="12700">
            <a:solidFill>
              <a:srgbClr val="0B0F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414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2441448"/>
            <a:ext cx="4069080" cy="658368"/>
          </a:xfrm>
          <a:prstGeom prst="rect">
            <a:avLst/>
          </a:prstGeom>
          <a:solidFill>
            <a:srgbClr val="161F31"/>
          </a:solidFill>
          <a:ln w="12700">
            <a:solidFill>
              <a:srgbClr val="0B0F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44144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to manipulation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52360" y="2441448"/>
            <a:ext cx="4069080" cy="658368"/>
          </a:xfrm>
          <a:prstGeom prst="rect">
            <a:avLst/>
          </a:prstGeom>
          <a:solidFill>
            <a:srgbClr val="161F31"/>
          </a:solidFill>
          <a:ln w="12700">
            <a:solidFill>
              <a:srgbClr val="0B0F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244144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(cryptography)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099816"/>
            <a:ext cx="2743200" cy="658368"/>
          </a:xfrm>
          <a:prstGeom prst="rect">
            <a:avLst/>
          </a:prstGeom>
          <a:solidFill>
            <a:srgbClr val="121826"/>
          </a:solidFill>
          <a:ln w="12700">
            <a:solidFill>
              <a:srgbClr val="0B0F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09981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Time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0" y="3099816"/>
            <a:ext cx="4069080" cy="658368"/>
          </a:xfrm>
          <a:prstGeom prst="rect">
            <a:avLst/>
          </a:prstGeom>
          <a:solidFill>
            <a:srgbClr val="121826"/>
          </a:solidFill>
          <a:ln w="12700">
            <a:solidFill>
              <a:srgbClr val="0B0F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309981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/ months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52360" y="3099816"/>
            <a:ext cx="4069080" cy="658368"/>
          </a:xfrm>
          <a:prstGeom prst="rect">
            <a:avLst/>
          </a:prstGeom>
          <a:solidFill>
            <a:srgbClr val="121826"/>
          </a:solidFill>
          <a:ln w="12700">
            <a:solidFill>
              <a:srgbClr val="0B0F1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309981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(seconds)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758184"/>
            <a:ext cx="2743200" cy="658368"/>
          </a:xfrm>
          <a:prstGeom prst="rect">
            <a:avLst/>
          </a:prstGeom>
          <a:solidFill>
            <a:srgbClr val="161F31"/>
          </a:solidFill>
          <a:ln w="12700">
            <a:solidFill>
              <a:srgbClr val="0B0F1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75818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83280" y="3758184"/>
            <a:ext cx="4069080" cy="658368"/>
          </a:xfrm>
          <a:prstGeom prst="rect">
            <a:avLst/>
          </a:prstGeom>
          <a:solidFill>
            <a:srgbClr val="161F31"/>
          </a:solidFill>
          <a:ln w="12700">
            <a:solidFill>
              <a:srgbClr val="0B0F1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375818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/ fragmented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52360" y="3758184"/>
            <a:ext cx="4069080" cy="658368"/>
          </a:xfrm>
          <a:prstGeom prst="rect">
            <a:avLst/>
          </a:prstGeom>
          <a:solidFill>
            <a:srgbClr val="161F31"/>
          </a:solidFill>
          <a:ln w="12700">
            <a:solidFill>
              <a:srgbClr val="0B0F1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375818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auditable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416552"/>
            <a:ext cx="2743200" cy="658368"/>
          </a:xfrm>
          <a:prstGeom prst="rect">
            <a:avLst/>
          </a:prstGeom>
          <a:solidFill>
            <a:srgbClr val="121826"/>
          </a:solidFill>
          <a:ln w="12700">
            <a:solidFill>
              <a:srgbClr val="0B0F1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41655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Cost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83280" y="4416552"/>
            <a:ext cx="4069080" cy="658368"/>
          </a:xfrm>
          <a:prstGeom prst="rect">
            <a:avLst/>
          </a:prstGeom>
          <a:solidFill>
            <a:srgbClr val="121826"/>
          </a:solidFill>
          <a:ln w="12700">
            <a:solidFill>
              <a:srgbClr val="0B0F1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4416552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52360" y="4416552"/>
            <a:ext cx="4069080" cy="658368"/>
          </a:xfrm>
          <a:prstGeom prst="rect">
            <a:avLst/>
          </a:prstGeom>
          <a:solidFill>
            <a:srgbClr val="121826"/>
          </a:solidFill>
          <a:ln w="12700">
            <a:solidFill>
              <a:srgbClr val="0B0F1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4416552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534924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161F31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5" name="Image 0" descr="/home/claude/ecotrace/icons/shield_14b8a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504688"/>
            <a:ext cx="420624" cy="420624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508760" y="53492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trust for ESG supply chains.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8720" y="1920240"/>
            <a:ext cx="9784080" cy="0"/>
          </a:xfrm>
          <a:prstGeom prst="line">
            <a:avLst/>
          </a:prstGeom>
          <a:noFill/>
          <a:ln w="38100">
            <a:solidFill>
              <a:srgbClr val="161F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80844" y="1792224"/>
            <a:ext cx="256032" cy="256032"/>
          </a:xfrm>
          <a:prstGeom prst="ellipse">
            <a:avLst/>
          </a:prstGeom>
          <a:solidFill>
            <a:srgbClr val="10B981"/>
          </a:solidFill>
          <a:ln w="38100">
            <a:solidFill>
              <a:srgbClr val="0B0F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31720"/>
            <a:ext cx="3337560" cy="3383280"/>
          </a:xfrm>
          <a:prstGeom prst="roundRect">
            <a:avLst>
              <a:gd name="adj" fmla="val 3288"/>
            </a:avLst>
          </a:prstGeom>
          <a:solidFill>
            <a:srgbClr val="121826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5603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61F3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/ MVP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251460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0" name="Image 0" descr="/home/claude/ecotrace/icons/cubes_0b0f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2054" y="2669134"/>
            <a:ext cx="285293" cy="28529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914400" y="361188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deployed on LACNet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frontend simulator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traceability logic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38444" y="1792224"/>
            <a:ext cx="256032" cy="256032"/>
          </a:xfrm>
          <a:prstGeom prst="ellipse">
            <a:avLst/>
          </a:prstGeom>
          <a:solidFill>
            <a:srgbClr val="14B8A6"/>
          </a:solidFill>
          <a:ln w="38100">
            <a:solidFill>
              <a:srgbClr val="0B0F1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97680" y="2331720"/>
            <a:ext cx="3337560" cy="3383280"/>
          </a:xfrm>
          <a:prstGeom prst="roundRect">
            <a:avLst>
              <a:gd name="adj" fmla="val 3288"/>
            </a:avLst>
          </a:prstGeom>
          <a:solidFill>
            <a:srgbClr val="121826"/>
          </a:solidFill>
          <a:ln w="15240">
            <a:solidFill>
              <a:srgbClr val="12182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25603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61F3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2560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675120" y="2514600"/>
            <a:ext cx="594360" cy="5943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8" name="Image 1" descr="/home/claude/ecotrace/icons/satellite_0b0f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654" y="2669134"/>
            <a:ext cx="285293" cy="28529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4572000" y="361188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connection via IoT sensors on industrial scales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registerBatch with zero human input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9496044" y="1792224"/>
            <a:ext cx="256032" cy="256032"/>
          </a:xfrm>
          <a:prstGeom prst="ellipse">
            <a:avLst/>
          </a:prstGeom>
          <a:solidFill>
            <a:srgbClr val="F59E0B"/>
          </a:solidFill>
          <a:ln w="38100">
            <a:solidFill>
              <a:srgbClr val="0B0F1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955280" y="2331720"/>
            <a:ext cx="3337560" cy="3383280"/>
          </a:xfrm>
          <a:prstGeom prst="roundRect">
            <a:avLst>
              <a:gd name="adj" fmla="val 3288"/>
            </a:avLst>
          </a:prstGeom>
          <a:solidFill>
            <a:srgbClr val="121826"/>
          </a:solidFill>
          <a:ln w="15240">
            <a:solidFill>
              <a:srgbClr val="12182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229600" y="25603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61F3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229600" y="2560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10332720" y="251460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6" name="Image 2" descr="/home/claude/ecotrace/icons/coins_0b0f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7254" y="2669134"/>
            <a:ext cx="285293" cy="28529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22960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/ ReFi</a:t>
            </a:r>
            <a:endParaRPr lang="en-US" sz="1900" dirty="0"/>
          </a:p>
        </p:txBody>
      </p:sp>
      <p:sp>
        <p:nvSpPr>
          <p:cNvPr id="28" name="Text 23"/>
          <p:cNvSpPr/>
          <p:nvPr/>
        </p:nvSpPr>
        <p:spPr>
          <a:xfrm>
            <a:off x="8229600" y="361188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 tokens / Recycling Credits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incentives for grassroots recyclers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822960"/>
            <a:ext cx="1005840" cy="457200"/>
          </a:xfrm>
          <a:prstGeom prst="line">
            <a:avLst/>
          </a:prstGeom>
          <a:noFill/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10424160" y="1280160"/>
            <a:ext cx="548640" cy="457200"/>
          </a:xfrm>
          <a:prstGeom prst="line">
            <a:avLst/>
          </a:prstGeom>
          <a:noFill/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822960"/>
            <a:ext cx="457200" cy="914400"/>
          </a:xfrm>
          <a:prstGeom prst="line">
            <a:avLst/>
          </a:prstGeom>
          <a:noFill/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0" y="1737360"/>
            <a:ext cx="1005840" cy="274320"/>
          </a:xfrm>
          <a:prstGeom prst="line">
            <a:avLst/>
          </a:prstGeom>
          <a:noFill/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02952" y="758952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10908792" y="121615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10360152" y="1673352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Shape 7"/>
          <p:cNvSpPr/>
          <p:nvPr/>
        </p:nvSpPr>
        <p:spPr>
          <a:xfrm>
            <a:off x="11365992" y="194767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8229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Recycling Into Digital Trust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project hosted on GitHub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smart contract on LACNet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5760720" cy="777240"/>
          </a:xfrm>
          <a:prstGeom prst="roundRect">
            <a:avLst>
              <a:gd name="adj" fmla="val 11765"/>
            </a:avLst>
          </a:prstGeom>
          <a:solidFill>
            <a:srgbClr val="121826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01752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4" name="Image 0" descr="/home/claude/ecotrace/icons/github_0b0f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3148279"/>
            <a:ext cx="241402" cy="24140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08760" y="28803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40080" y="3813048"/>
            <a:ext cx="5760720" cy="777240"/>
          </a:xfrm>
          <a:prstGeom prst="roundRect">
            <a:avLst>
              <a:gd name="adj" fmla="val 11765"/>
            </a:avLst>
          </a:prstGeom>
          <a:solidFill>
            <a:srgbClr val="121826"/>
          </a:solidFill>
          <a:ln/>
        </p:spPr>
      </p:sp>
      <p:sp>
        <p:nvSpPr>
          <p:cNvPr id="17" name="Shape 14"/>
          <p:cNvSpPr/>
          <p:nvPr/>
        </p:nvSpPr>
        <p:spPr>
          <a:xfrm>
            <a:off x="822960" y="3950208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8" name="Image 1" descr="/home/claude/ecotrace/icons/play_0b0f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4080967"/>
            <a:ext cx="241402" cy="24140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08760" y="381304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 Demo Video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40080" y="4745736"/>
            <a:ext cx="5760720" cy="777240"/>
          </a:xfrm>
          <a:prstGeom prst="roundRect">
            <a:avLst>
              <a:gd name="adj" fmla="val 11765"/>
            </a:avLst>
          </a:prstGeom>
          <a:solidFill>
            <a:srgbClr val="121826"/>
          </a:solidFill>
          <a:ln/>
        </p:spPr>
      </p:sp>
      <p:sp>
        <p:nvSpPr>
          <p:cNvPr id="21" name="Shape 17"/>
          <p:cNvSpPr/>
          <p:nvPr/>
        </p:nvSpPr>
        <p:spPr>
          <a:xfrm>
            <a:off x="822960" y="4882896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2" name="Image 2" descr="/home/claude/ecotrace/icons/globe_0b0f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5013655"/>
            <a:ext cx="241402" cy="24140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08760" y="474573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DApp</a:t>
            </a:r>
            <a:endParaRPr lang="en-US" sz="1450" dirty="0"/>
          </a:p>
        </p:txBody>
      </p:sp>
      <p:sp>
        <p:nvSpPr>
          <p:cNvPr id="24" name="Shape 19"/>
          <p:cNvSpPr/>
          <p:nvPr/>
        </p:nvSpPr>
        <p:spPr>
          <a:xfrm>
            <a:off x="640080" y="580644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0E14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14400" y="58064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“EcoTrace Protocol: immutable transparency for a sustainable planet.”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2026-07-14T13:56:15Z</dcterms:created>
  <dcterms:modified xsi:type="dcterms:W3CDTF">2026-07-14T13:56:15Z</dcterms:modified>
</cp:coreProperties>
</file>